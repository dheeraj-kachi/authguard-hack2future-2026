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4"/>
  </p:sldMasterIdLst>
  <p:notesMasterIdLst>
    <p:notesMasterId r:id="rId11"/>
  </p:notesMasterIdLst>
  <p:sldIdLst>
    <p:sldId id="2147482259" r:id="rId5"/>
    <p:sldId id="2147482250" r:id="rId6"/>
    <p:sldId id="2147482255" r:id="rId7"/>
    <p:sldId id="2147482269" r:id="rId8"/>
    <p:sldId id="2147482268" r:id="rId9"/>
    <p:sldId id="21474822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171A8B-2443-0D6A-7831-64479511477E}" name="Srikant Dharmana (Strat1 Consulting LLC)" initials="SD" userId="S::v-srdharmana@microsoft.com::654db8d1-c988-4f4a-9b83-d6ad2cb15f77" providerId="AD"/>
  <p188:author id="{52BA4CE0-75EC-6C3D-26E7-85901897F81D}" name="Liz Torres-Ramirez" initials="LT" userId="S::lizto@microsoft.com::6743c6f5-b07c-4a63-9ece-69149996d34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5E49"/>
    <a:srgbClr val="F2F2F2"/>
    <a:srgbClr val="F7DFD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969" autoAdjust="0"/>
  </p:normalViewPr>
  <p:slideViewPr>
    <p:cSldViewPr snapToGrid="0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eeraj Raju Kachi" userId="83525d93-ac3b-4b0f-8442-0b6f14ab652e" providerId="ADAL" clId="{E4493162-E3F8-443D-B4B1-58B426209BE0}"/>
    <pc:docChg chg="undo custSel delSld modSld">
      <pc:chgData name="Dheeraj Raju Kachi" userId="83525d93-ac3b-4b0f-8442-0b6f14ab652e" providerId="ADAL" clId="{E4493162-E3F8-443D-B4B1-58B426209BE0}" dt="2026-06-16T06:08:01.127" v="30" actId="478"/>
      <pc:docMkLst>
        <pc:docMk/>
      </pc:docMkLst>
      <pc:sldChg chg="del">
        <pc:chgData name="Dheeraj Raju Kachi" userId="83525d93-ac3b-4b0f-8442-0b6f14ab652e" providerId="ADAL" clId="{E4493162-E3F8-443D-B4B1-58B426209BE0}" dt="2026-06-16T06:07:13.520" v="0" actId="2696"/>
        <pc:sldMkLst>
          <pc:docMk/>
          <pc:sldMk cId="2299592471" sldId="2147482241"/>
        </pc:sldMkLst>
      </pc:sldChg>
      <pc:sldChg chg="delSp modSp mod">
        <pc:chgData name="Dheeraj Raju Kachi" userId="83525d93-ac3b-4b0f-8442-0b6f14ab652e" providerId="ADAL" clId="{E4493162-E3F8-443D-B4B1-58B426209BE0}" dt="2026-06-16T06:08:01.127" v="30" actId="478"/>
        <pc:sldMkLst>
          <pc:docMk/>
          <pc:sldMk cId="3360457477" sldId="2147482250"/>
        </pc:sldMkLst>
        <pc:spChg chg="del">
          <ac:chgData name="Dheeraj Raju Kachi" userId="83525d93-ac3b-4b0f-8442-0b6f14ab652e" providerId="ADAL" clId="{E4493162-E3F8-443D-B4B1-58B426209BE0}" dt="2026-06-16T06:07:49.164" v="19" actId="478"/>
          <ac:spMkLst>
            <pc:docMk/>
            <pc:sldMk cId="3360457477" sldId="2147482250"/>
            <ac:spMk id="3" creationId="{73CF2248-BAF7-D882-50FC-F4C0B538FED1}"/>
          </ac:spMkLst>
        </pc:spChg>
        <pc:spChg chg="del">
          <ac:chgData name="Dheeraj Raju Kachi" userId="83525d93-ac3b-4b0f-8442-0b6f14ab652e" providerId="ADAL" clId="{E4493162-E3F8-443D-B4B1-58B426209BE0}" dt="2026-06-16T06:07:48.258" v="18" actId="478"/>
          <ac:spMkLst>
            <pc:docMk/>
            <pc:sldMk cId="3360457477" sldId="2147482250"/>
            <ac:spMk id="7" creationId="{774ECB2D-8851-7FCC-3717-ACD9F2C95CF2}"/>
          </ac:spMkLst>
        </pc:spChg>
        <pc:spChg chg="del">
          <ac:chgData name="Dheeraj Raju Kachi" userId="83525d93-ac3b-4b0f-8442-0b6f14ab652e" providerId="ADAL" clId="{E4493162-E3F8-443D-B4B1-58B426209BE0}" dt="2026-06-16T06:07:47.466" v="17" actId="478"/>
          <ac:spMkLst>
            <pc:docMk/>
            <pc:sldMk cId="3360457477" sldId="2147482250"/>
            <ac:spMk id="9" creationId="{DF3F9392-D654-4FD3-543C-F1889E602EF6}"/>
          </ac:spMkLst>
        </pc:spChg>
        <pc:spChg chg="mod">
          <ac:chgData name="Dheeraj Raju Kachi" userId="83525d93-ac3b-4b0f-8442-0b6f14ab652e" providerId="ADAL" clId="{E4493162-E3F8-443D-B4B1-58B426209BE0}" dt="2026-06-16T06:07:41.065" v="16" actId="1076"/>
          <ac:spMkLst>
            <pc:docMk/>
            <pc:sldMk cId="3360457477" sldId="2147482250"/>
            <ac:spMk id="14" creationId="{12BC4D37-79AD-E44B-D51F-972E0E766361}"/>
          </ac:spMkLst>
        </pc:spChg>
        <pc:spChg chg="del">
          <ac:chgData name="Dheeraj Raju Kachi" userId="83525d93-ac3b-4b0f-8442-0b6f14ab652e" providerId="ADAL" clId="{E4493162-E3F8-443D-B4B1-58B426209BE0}" dt="2026-06-16T06:07:55.171" v="25" actId="478"/>
          <ac:spMkLst>
            <pc:docMk/>
            <pc:sldMk cId="3360457477" sldId="2147482250"/>
            <ac:spMk id="18" creationId="{913014E0-D799-F855-1F6F-DC8613078283}"/>
          </ac:spMkLst>
        </pc:spChg>
        <pc:spChg chg="del">
          <ac:chgData name="Dheeraj Raju Kachi" userId="83525d93-ac3b-4b0f-8442-0b6f14ab652e" providerId="ADAL" clId="{E4493162-E3F8-443D-B4B1-58B426209BE0}" dt="2026-06-16T06:07:49.681" v="20" actId="478"/>
          <ac:spMkLst>
            <pc:docMk/>
            <pc:sldMk cId="3360457477" sldId="2147482250"/>
            <ac:spMk id="20" creationId="{CE09D91C-DF1D-C33C-8AC3-75AC3778F9F0}"/>
          </ac:spMkLst>
        </pc:spChg>
        <pc:spChg chg="del mod">
          <ac:chgData name="Dheeraj Raju Kachi" userId="83525d93-ac3b-4b0f-8442-0b6f14ab652e" providerId="ADAL" clId="{E4493162-E3F8-443D-B4B1-58B426209BE0}" dt="2026-06-16T06:07:52.884" v="23" actId="478"/>
          <ac:spMkLst>
            <pc:docMk/>
            <pc:sldMk cId="3360457477" sldId="2147482250"/>
            <ac:spMk id="22" creationId="{46D3E278-9910-869B-DD9D-32C09A639B60}"/>
          </ac:spMkLst>
        </pc:spChg>
        <pc:spChg chg="del">
          <ac:chgData name="Dheeraj Raju Kachi" userId="83525d93-ac3b-4b0f-8442-0b6f14ab652e" providerId="ADAL" clId="{E4493162-E3F8-443D-B4B1-58B426209BE0}" dt="2026-06-16T06:07:55.934" v="26" actId="478"/>
          <ac:spMkLst>
            <pc:docMk/>
            <pc:sldMk cId="3360457477" sldId="2147482250"/>
            <ac:spMk id="24" creationId="{F023CC46-7D0B-EB95-785F-98929939C282}"/>
          </ac:spMkLst>
        </pc:spChg>
        <pc:spChg chg="del mod">
          <ac:chgData name="Dheeraj Raju Kachi" userId="83525d93-ac3b-4b0f-8442-0b6f14ab652e" providerId="ADAL" clId="{E4493162-E3F8-443D-B4B1-58B426209BE0}" dt="2026-06-16T06:07:51.264" v="22" actId="478"/>
          <ac:spMkLst>
            <pc:docMk/>
            <pc:sldMk cId="3360457477" sldId="2147482250"/>
            <ac:spMk id="26" creationId="{77E3E6DC-AB7E-D2DA-9334-2EED11F7C89B}"/>
          </ac:spMkLst>
        </pc:spChg>
        <pc:spChg chg="del">
          <ac:chgData name="Dheeraj Raju Kachi" userId="83525d93-ac3b-4b0f-8442-0b6f14ab652e" providerId="ADAL" clId="{E4493162-E3F8-443D-B4B1-58B426209BE0}" dt="2026-06-16T06:07:54.105" v="24" actId="478"/>
          <ac:spMkLst>
            <pc:docMk/>
            <pc:sldMk cId="3360457477" sldId="2147482250"/>
            <ac:spMk id="28" creationId="{2B34A5E8-019D-D9C2-0C32-CEE3678056C6}"/>
          </ac:spMkLst>
        </pc:spChg>
        <pc:spChg chg="del">
          <ac:chgData name="Dheeraj Raju Kachi" userId="83525d93-ac3b-4b0f-8442-0b6f14ab652e" providerId="ADAL" clId="{E4493162-E3F8-443D-B4B1-58B426209BE0}" dt="2026-06-16T06:07:59.618" v="28" actId="478"/>
          <ac:spMkLst>
            <pc:docMk/>
            <pc:sldMk cId="3360457477" sldId="2147482250"/>
            <ac:spMk id="32" creationId="{9C6E5142-ACBC-2123-E21A-8F05C6B3CCF8}"/>
          </ac:spMkLst>
        </pc:spChg>
        <pc:spChg chg="del mod">
          <ac:chgData name="Dheeraj Raju Kachi" userId="83525d93-ac3b-4b0f-8442-0b6f14ab652e" providerId="ADAL" clId="{E4493162-E3F8-443D-B4B1-58B426209BE0}" dt="2026-06-16T06:07:58.735" v="27" actId="478"/>
          <ac:spMkLst>
            <pc:docMk/>
            <pc:sldMk cId="3360457477" sldId="2147482250"/>
            <ac:spMk id="34" creationId="{943CF467-D6B8-CC0C-16CE-03A4736C1F1F}"/>
          </ac:spMkLst>
        </pc:spChg>
        <pc:spChg chg="del">
          <ac:chgData name="Dheeraj Raju Kachi" userId="83525d93-ac3b-4b0f-8442-0b6f14ab652e" providerId="ADAL" clId="{E4493162-E3F8-443D-B4B1-58B426209BE0}" dt="2026-06-16T06:07:37.329" v="12" actId="478"/>
          <ac:spMkLst>
            <pc:docMk/>
            <pc:sldMk cId="3360457477" sldId="2147482250"/>
            <ac:spMk id="36" creationId="{FC8A2FB9-E491-C2D6-6941-A6436D215500}"/>
          </ac:spMkLst>
        </pc:spChg>
        <pc:picChg chg="del">
          <ac:chgData name="Dheeraj Raju Kachi" userId="83525d93-ac3b-4b0f-8442-0b6f14ab652e" providerId="ADAL" clId="{E4493162-E3F8-443D-B4B1-58B426209BE0}" dt="2026-06-16T06:08:01.127" v="30" actId="478"/>
          <ac:picMkLst>
            <pc:docMk/>
            <pc:sldMk cId="3360457477" sldId="2147482250"/>
            <ac:picMk id="52" creationId="{C98BB912-8303-5BEA-257D-BDCF746B8199}"/>
          </ac:picMkLst>
        </pc:picChg>
        <pc:picChg chg="del">
          <ac:chgData name="Dheeraj Raju Kachi" userId="83525d93-ac3b-4b0f-8442-0b6f14ab652e" providerId="ADAL" clId="{E4493162-E3F8-443D-B4B1-58B426209BE0}" dt="2026-06-16T06:08:00.489" v="29" actId="478"/>
          <ac:picMkLst>
            <pc:docMk/>
            <pc:sldMk cId="3360457477" sldId="2147482250"/>
            <ac:picMk id="56" creationId="{7D717154-6637-33C3-0F54-1F9A93B4940C}"/>
          </ac:picMkLst>
        </pc:picChg>
      </pc:sldChg>
      <pc:sldChg chg="delSp modSp mod">
        <pc:chgData name="Dheeraj Raju Kachi" userId="83525d93-ac3b-4b0f-8442-0b6f14ab652e" providerId="ADAL" clId="{E4493162-E3F8-443D-B4B1-58B426209BE0}" dt="2026-06-16T06:07:30.891" v="11" actId="1076"/>
        <pc:sldMkLst>
          <pc:docMk/>
          <pc:sldMk cId="3198515877" sldId="2147482259"/>
        </pc:sldMkLst>
        <pc:graphicFrameChg chg="mod">
          <ac:chgData name="Dheeraj Raju Kachi" userId="83525d93-ac3b-4b0f-8442-0b6f14ab652e" providerId="ADAL" clId="{E4493162-E3F8-443D-B4B1-58B426209BE0}" dt="2026-06-16T06:07:30.891" v="11" actId="1076"/>
          <ac:graphicFrameMkLst>
            <pc:docMk/>
            <pc:sldMk cId="3198515877" sldId="2147482259"/>
            <ac:graphicFrameMk id="3" creationId="{0E1FA11D-96F7-EC45-205B-A3A6F2625FB9}"/>
          </ac:graphicFrameMkLst>
        </pc:graphicFrameChg>
        <pc:picChg chg="del">
          <ac:chgData name="Dheeraj Raju Kachi" userId="83525d93-ac3b-4b0f-8442-0b6f14ab652e" providerId="ADAL" clId="{E4493162-E3F8-443D-B4B1-58B426209BE0}" dt="2026-06-16T06:07:27.227" v="10" actId="478"/>
          <ac:picMkLst>
            <pc:docMk/>
            <pc:sldMk cId="3198515877" sldId="2147482259"/>
            <ac:picMk id="2" creationId="{A77F9F87-3128-73B0-7725-6CD6112D59C5}"/>
          </ac:picMkLst>
        </pc:picChg>
        <pc:picChg chg="del">
          <ac:chgData name="Dheeraj Raju Kachi" userId="83525d93-ac3b-4b0f-8442-0b6f14ab652e" providerId="ADAL" clId="{E4493162-E3F8-443D-B4B1-58B426209BE0}" dt="2026-06-16T06:07:23.736" v="2" actId="478"/>
          <ac:picMkLst>
            <pc:docMk/>
            <pc:sldMk cId="3198515877" sldId="2147482259"/>
            <ac:picMk id="5" creationId="{39DA6284-18FC-19FF-D1C7-4ABD12D41C1F}"/>
          </ac:picMkLst>
        </pc:picChg>
        <pc:picChg chg="del">
          <ac:chgData name="Dheeraj Raju Kachi" userId="83525d93-ac3b-4b0f-8442-0b6f14ab652e" providerId="ADAL" clId="{E4493162-E3F8-443D-B4B1-58B426209BE0}" dt="2026-06-16T06:07:26.313" v="8" actId="478"/>
          <ac:picMkLst>
            <pc:docMk/>
            <pc:sldMk cId="3198515877" sldId="2147482259"/>
            <ac:picMk id="7" creationId="{F87E9583-FC72-7C24-AFB8-4F4345A48AD1}"/>
          </ac:picMkLst>
        </pc:picChg>
        <pc:picChg chg="del">
          <ac:chgData name="Dheeraj Raju Kachi" userId="83525d93-ac3b-4b0f-8442-0b6f14ab652e" providerId="ADAL" clId="{E4493162-E3F8-443D-B4B1-58B426209BE0}" dt="2026-06-16T06:07:25.129" v="5" actId="478"/>
          <ac:picMkLst>
            <pc:docMk/>
            <pc:sldMk cId="3198515877" sldId="2147482259"/>
            <ac:picMk id="9" creationId="{C4ED5732-3006-1FF9-744C-D8F769758470}"/>
          </ac:picMkLst>
        </pc:picChg>
        <pc:picChg chg="del">
          <ac:chgData name="Dheeraj Raju Kachi" userId="83525d93-ac3b-4b0f-8442-0b6f14ab652e" providerId="ADAL" clId="{E4493162-E3F8-443D-B4B1-58B426209BE0}" dt="2026-06-16T06:07:24.194" v="3" actId="478"/>
          <ac:picMkLst>
            <pc:docMk/>
            <pc:sldMk cId="3198515877" sldId="2147482259"/>
            <ac:picMk id="11" creationId="{E7CCCC04-A9A7-CF6F-DE30-16252E659DE0}"/>
          </ac:picMkLst>
        </pc:picChg>
        <pc:picChg chg="del">
          <ac:chgData name="Dheeraj Raju Kachi" userId="83525d93-ac3b-4b0f-8442-0b6f14ab652e" providerId="ADAL" clId="{E4493162-E3F8-443D-B4B1-58B426209BE0}" dt="2026-06-16T06:07:23.237" v="1" actId="478"/>
          <ac:picMkLst>
            <pc:docMk/>
            <pc:sldMk cId="3198515877" sldId="2147482259"/>
            <ac:picMk id="13" creationId="{552C6812-6BA8-F1C6-7F90-E0D6C1DE0719}"/>
          </ac:picMkLst>
        </pc:picChg>
        <pc:picChg chg="del">
          <ac:chgData name="Dheeraj Raju Kachi" userId="83525d93-ac3b-4b0f-8442-0b6f14ab652e" providerId="ADAL" clId="{E4493162-E3F8-443D-B4B1-58B426209BE0}" dt="2026-06-16T06:07:25.913" v="7" actId="478"/>
          <ac:picMkLst>
            <pc:docMk/>
            <pc:sldMk cId="3198515877" sldId="2147482259"/>
            <ac:picMk id="15" creationId="{1BAD9EF5-996C-57A1-93E6-96101D23C422}"/>
          </ac:picMkLst>
        </pc:picChg>
        <pc:picChg chg="del">
          <ac:chgData name="Dheeraj Raju Kachi" userId="83525d93-ac3b-4b0f-8442-0b6f14ab652e" providerId="ADAL" clId="{E4493162-E3F8-443D-B4B1-58B426209BE0}" dt="2026-06-16T06:07:24.754" v="4" actId="478"/>
          <ac:picMkLst>
            <pc:docMk/>
            <pc:sldMk cId="3198515877" sldId="2147482259"/>
            <ac:picMk id="17" creationId="{C6082A6F-CADD-E8C6-790C-13CE308B50CC}"/>
          </ac:picMkLst>
        </pc:picChg>
        <pc:picChg chg="del">
          <ac:chgData name="Dheeraj Raju Kachi" userId="83525d93-ac3b-4b0f-8442-0b6f14ab652e" providerId="ADAL" clId="{E4493162-E3F8-443D-B4B1-58B426209BE0}" dt="2026-06-16T06:07:25.485" v="6" actId="478"/>
          <ac:picMkLst>
            <pc:docMk/>
            <pc:sldMk cId="3198515877" sldId="2147482259"/>
            <ac:picMk id="19" creationId="{44A4C16A-78B1-F595-BE19-E2EF7CCBCDB4}"/>
          </ac:picMkLst>
        </pc:picChg>
        <pc:picChg chg="del">
          <ac:chgData name="Dheeraj Raju Kachi" userId="83525d93-ac3b-4b0f-8442-0b6f14ab652e" providerId="ADAL" clId="{E4493162-E3F8-443D-B4B1-58B426209BE0}" dt="2026-06-16T06:07:26.802" v="9" actId="478"/>
          <ac:picMkLst>
            <pc:docMk/>
            <pc:sldMk cId="3198515877" sldId="2147482259"/>
            <ac:picMk id="21" creationId="{A750A0B4-1267-0AE0-5B57-416F678A19A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A0C61-0A9F-466F-80F9-02EE841505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03EC6C-D9B0-445D-8E51-1C42F027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72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03EC6C-D9B0-445D-8E51-1C42F0278F6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543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03EC6C-D9B0-445D-8E51-1C42F0278F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799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03EC6C-D9B0-445D-8E51-1C42F0278F6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504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03EC6C-D9B0-445D-8E51-1C42F0278F6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769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Screenshots : </a:t>
            </a:r>
          </a:p>
          <a:p>
            <a:endParaRPr lang="en-IN" dirty="0"/>
          </a:p>
          <a:p>
            <a:r>
              <a:rPr lang="en-IN" dirty="0"/>
              <a:t>Row 1: 	Security </a:t>
            </a:r>
            <a:r>
              <a:rPr lang="en-IN"/>
              <a:t>Dashboard    </a:t>
            </a:r>
            <a:r>
              <a:rPr lang="en-IN" dirty="0"/>
              <a:t>| 	Teams SOC Alert     | 	Email Alert (HTML)	 |</a:t>
            </a:r>
            <a:br>
              <a:rPr lang="en-IN" dirty="0"/>
            </a:br>
            <a:r>
              <a:rPr lang="en-IN" dirty="0"/>
              <a:t>Row 2:   	SMS Mobile </a:t>
            </a:r>
            <a:r>
              <a:rPr lang="en-IN"/>
              <a:t>Alert       | </a:t>
            </a:r>
            <a:r>
              <a:rPr lang="en-IN" dirty="0"/>
              <a:t>	Sentinel Incidents    | 	Detection Rules    	 | </a:t>
            </a:r>
          </a:p>
          <a:p>
            <a:r>
              <a:rPr lang="en-IN" dirty="0"/>
              <a:t>Row 3: 	Logic App Workflow  |  	Power BI Report      |  	Cost: $0.41/$55	 |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03EC6C-D9B0-445D-8E51-1C42F0278F6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064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A6EB7B5-09E6-239C-5548-D264863676F3}"/>
              </a:ext>
            </a:extLst>
          </p:cNvPr>
          <p:cNvSpPr/>
          <p:nvPr userDrawn="1"/>
        </p:nvSpPr>
        <p:spPr>
          <a:xfrm>
            <a:off x="9329057" y="6466114"/>
            <a:ext cx="23622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99E369-D7F9-40E1-6820-83BFE09DFB05}"/>
              </a:ext>
            </a:extLst>
          </p:cNvPr>
          <p:cNvSpPr/>
          <p:nvPr userDrawn="1"/>
        </p:nvSpPr>
        <p:spPr>
          <a:xfrm>
            <a:off x="-2" y="6147582"/>
            <a:ext cx="1674057" cy="710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D47CDF-9154-775A-939D-16D454DA61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-2" y="2912526"/>
            <a:ext cx="12192001" cy="3945474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F850D93-3533-8DCB-34B7-C6D207234F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68943" y="1630920"/>
            <a:ext cx="6943333" cy="150938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rgbClr val="1A1A1A"/>
                </a:solidFill>
                <a:latin typeface="ES Klarheit Grotesk Lt" pitchFamily="2" charset="0"/>
                <a:ea typeface="ES Klarheit Grotesk Lt" pitchFamily="2" charset="0"/>
              </a:defRPr>
            </a:lvl1pPr>
          </a:lstStyle>
          <a:p>
            <a:pPr lvl="0"/>
            <a:r>
              <a:rPr lang="en-GB"/>
              <a:t>Click to edit </a:t>
            </a:r>
          </a:p>
          <a:p>
            <a:pPr lvl="0"/>
            <a:r>
              <a:rPr lang="en-GB"/>
              <a:t>Master title style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26DC01FE-93EE-1F2D-F21D-E864C69D7F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8943" y="3160731"/>
            <a:ext cx="6962275" cy="5394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bg1">
                    <a:lumMod val="50000"/>
                  </a:schemeClr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pPr lvl="0"/>
            <a:r>
              <a:rPr lang="en-GB"/>
              <a:t>Click to edit Master subtitle style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82851D19-714D-3D51-E2C8-D83032A237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943" y="4236366"/>
            <a:ext cx="5127057" cy="388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1A1A1A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pPr lvl="0"/>
            <a:r>
              <a:rPr lang="en-GB"/>
              <a:t>March 10, 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7DA7AF-3E3A-0A22-E80F-D7D261E632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6" y="-28576"/>
            <a:ext cx="12052124" cy="91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923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C4AC4-BDEC-4357-8D60-8D24A93B26F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608851" y="1130793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2020E0B2-909A-7EED-D348-0FC69D360F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963" y="457200"/>
            <a:ext cx="7437437" cy="553998"/>
          </a:xfrm>
        </p:spPr>
        <p:txBody>
          <a:bodyPr/>
          <a:lstStyle>
            <a:lvl1pPr>
              <a:defRPr sz="3600" b="0" i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9" name="MS logo gray - EMF">
            <a:extLst>
              <a:ext uri="{FF2B5EF4-FFF2-40B4-BE49-F238E27FC236}">
                <a16:creationId xmlns:a16="http://schemas.microsoft.com/office/drawing/2014/main" id="{07811DFC-7AC4-0106-68F9-9C8FA1DADF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514621" y="6389431"/>
            <a:ext cx="1012916" cy="21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16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MS logo gray - EMF">
            <a:extLst>
              <a:ext uri="{FF2B5EF4-FFF2-40B4-BE49-F238E27FC236}">
                <a16:creationId xmlns:a16="http://schemas.microsoft.com/office/drawing/2014/main" id="{8A717617-C5F1-38D1-D474-9A4761038F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514621" y="6389431"/>
            <a:ext cx="1012916" cy="21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698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sv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C14536-469C-7DFD-90D3-3AF1CFE82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D9401-1575-2E89-7755-C480FFD4A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DD044F-AD70-AA31-7DBF-D6B87F82F156}"/>
              </a:ext>
            </a:extLst>
          </p:cNvPr>
          <p:cNvSpPr txBox="1"/>
          <p:nvPr userDrawn="1"/>
        </p:nvSpPr>
        <p:spPr>
          <a:xfrm>
            <a:off x="8501440" y="6450756"/>
            <a:ext cx="2762250" cy="21428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effectLst/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t>©LTM  |  Privileged and Confidential</a:t>
            </a:r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8DCC2A93-263C-98AF-A948-75A458E15543}"/>
              </a:ext>
            </a:extLst>
          </p:cNvPr>
          <p:cNvSpPr txBox="1">
            <a:spLocks/>
          </p:cNvSpPr>
          <p:nvPr userDrawn="1"/>
        </p:nvSpPr>
        <p:spPr>
          <a:xfrm>
            <a:off x="11116286" y="6434967"/>
            <a:ext cx="513190" cy="229550"/>
          </a:xfrm>
          <a:prstGeom prst="rect">
            <a:avLst/>
          </a:prstGeom>
        </p:spPr>
        <p:txBody>
          <a:bodyPr lIns="104891" tIns="52445" rIns="104891" bIns="524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800" b="0" smtClean="0">
                <a:solidFill>
                  <a:schemeClr val="bg1">
                    <a:lumMod val="65000"/>
                  </a:schemeClr>
                </a:solidFill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800" b="0">
              <a:solidFill>
                <a:schemeClr val="bg1">
                  <a:lumMod val="65000"/>
                </a:schemeClr>
              </a:solidFill>
              <a:latin typeface="ES Klarheit Grotesk" pitchFamily="2" charset="0"/>
              <a:ea typeface="ES Klarheit Grotesk" pitchFamily="2" charset="0"/>
              <a:cs typeface="Calibri" panose="020F0502020204030204" pitchFamily="34" charset="0"/>
            </a:endParaRP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27F7487F-1441-7542-7165-4AC10FBD95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386" y="6439554"/>
            <a:ext cx="513480" cy="1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643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49" r:id="rId2"/>
    <p:sldLayoutId id="214748375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9FFE3C-6161-E632-D534-D946CB1C2382}"/>
              </a:ext>
            </a:extLst>
          </p:cNvPr>
          <p:cNvSpPr txBox="1"/>
          <p:nvPr/>
        </p:nvSpPr>
        <p:spPr>
          <a:xfrm>
            <a:off x="530603" y="46575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Hack Team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1FA11D-96F7-EC45-205B-A3A6F2625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733161"/>
              </p:ext>
            </p:extLst>
          </p:nvPr>
        </p:nvGraphicFramePr>
        <p:xfrm>
          <a:off x="530603" y="1850155"/>
          <a:ext cx="10889672" cy="2555248"/>
        </p:xfrm>
        <a:graphic>
          <a:graphicData uri="http://schemas.openxmlformats.org/drawingml/2006/table">
            <a:tbl>
              <a:tblPr/>
              <a:tblGrid>
                <a:gridCol w="1856997">
                  <a:extLst>
                    <a:ext uri="{9D8B030D-6E8A-4147-A177-3AD203B41FA5}">
                      <a16:colId xmlns:a16="http://schemas.microsoft.com/office/drawing/2014/main" val="3837900683"/>
                    </a:ext>
                  </a:extLst>
                </a:gridCol>
                <a:gridCol w="9032675">
                  <a:extLst>
                    <a:ext uri="{9D8B030D-6E8A-4147-A177-3AD203B41FA5}">
                      <a16:colId xmlns:a16="http://schemas.microsoft.com/office/drawing/2014/main" val="283495268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cs typeface="Segoe UI" panose="020B0502040204020203" pitchFamily="34" charset="0"/>
                      </a:endParaRP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Segoe UI" panose="020B0502040204020203" pitchFamily="34" charset="0"/>
                        </a:rPr>
                        <a:t>Description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367349"/>
                  </a:ext>
                </a:extLst>
              </a:tr>
              <a:tr h="394533">
                <a:tc>
                  <a:txBody>
                    <a:bodyPr/>
                    <a:lstStyle/>
                    <a:p>
                      <a:pPr marL="50800" indent="0" algn="l" fontAlgn="t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 panose="020B0502040204020203" pitchFamily="34" charset="0"/>
                        </a:rPr>
                        <a:t>Team Name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5888" indent="0" algn="l" defTabSz="914400" rtl="0" eaLnBrk="1" fontAlgn="t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    LTM ShieldOps</a:t>
                      </a:r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949689"/>
                  </a:ext>
                </a:extLst>
              </a:tr>
              <a:tr h="722594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Chosen Challenge Statement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5888" marR="0" lvl="0" indent="0" algn="l" defTabSz="914400" rtl="0" eaLnBrk="1" fontAlgn="t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Failed Login Pattern Analyzer for Early Threat Detection</a:t>
                      </a:r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839416"/>
                  </a:ext>
                </a:extLst>
              </a:tr>
              <a:tr h="402798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Idea Name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5888" indent="0" algn="l" defTabSz="914400" rtl="0" eaLnBrk="1" fontAlgn="t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AuthGuard — AI-Powered Identity Threat Detection &amp; Response Engine</a:t>
                      </a:r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692221"/>
                  </a:ext>
                </a:extLst>
              </a:tr>
              <a:tr h="503910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Problem Statement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5888" indent="0" algn="l" defTabSz="914400" rtl="0" eaLnBrk="1" fontAlgn="t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Organizations face millions of failed login attempts daily across multiple identity platforms (Entra ID, On-Prem AD, VPN, Web Apps). Security teams lack real-time visibility into attack patterns like brute force, password spray, credential stuffing, and impossible travel. Without automated detection and multi-channel alerting, compromised accounts go unnoticed for hours or days — leading to data breaches, lateral movement, and significant financial and reputational damage.</a:t>
                      </a:r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537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8515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8F5CF-78B4-51BC-72BD-440173778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132BB5-A6D8-1266-1203-45A5FA25FDD9}"/>
              </a:ext>
            </a:extLst>
          </p:cNvPr>
          <p:cNvSpPr txBox="1"/>
          <p:nvPr/>
        </p:nvSpPr>
        <p:spPr>
          <a:xfrm>
            <a:off x="567548" y="438044"/>
            <a:ext cx="48911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IN" sz="2800" dirty="0"/>
              <a:t>Solution Build &amp; Submission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BC4D37-79AD-E44B-D51F-972E0E766361}"/>
              </a:ext>
            </a:extLst>
          </p:cNvPr>
          <p:cNvSpPr/>
          <p:nvPr/>
        </p:nvSpPr>
        <p:spPr>
          <a:xfrm>
            <a:off x="9587345" y="0"/>
            <a:ext cx="2290619" cy="6858000"/>
          </a:xfrm>
          <a:prstGeom prst="rect">
            <a:avLst/>
          </a:prstGeom>
          <a:solidFill>
            <a:srgbClr val="F7DF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4A50B6F-DA2E-4704-ACE8-B52180B5BB6E}"/>
              </a:ext>
            </a:extLst>
          </p:cNvPr>
          <p:cNvSpPr/>
          <p:nvPr/>
        </p:nvSpPr>
        <p:spPr>
          <a:xfrm>
            <a:off x="0" y="4752403"/>
            <a:ext cx="9587345" cy="15004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hape 89">
            <a:extLst>
              <a:ext uri="{FF2B5EF4-FFF2-40B4-BE49-F238E27FC236}">
                <a16:creationId xmlns:a16="http://schemas.microsoft.com/office/drawing/2014/main" id="{59C7108B-1B0E-A3BC-27AE-EBE0D4966734}"/>
              </a:ext>
            </a:extLst>
          </p:cNvPr>
          <p:cNvSpPr/>
          <p:nvPr/>
        </p:nvSpPr>
        <p:spPr>
          <a:xfrm>
            <a:off x="827039" y="2315410"/>
            <a:ext cx="45719" cy="2084651"/>
          </a:xfrm>
          <a:prstGeom prst="rect">
            <a:avLst/>
          </a:prstGeom>
          <a:solidFill>
            <a:srgbClr val="FD5E49"/>
          </a:solidFill>
          <a:ln w="12700">
            <a:solidFill>
              <a:srgbClr val="A42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FBECE9-AEB9-092B-4747-DC4C1F0F0446}"/>
              </a:ext>
            </a:extLst>
          </p:cNvPr>
          <p:cNvSpPr txBox="1"/>
          <p:nvPr/>
        </p:nvSpPr>
        <p:spPr>
          <a:xfrm>
            <a:off x="548693" y="845191"/>
            <a:ext cx="36507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Backup your Code repository or relevant files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537BC3-FC50-3365-0B20-19A9D840559C}"/>
              </a:ext>
            </a:extLst>
          </p:cNvPr>
          <p:cNvSpPr txBox="1"/>
          <p:nvPr/>
        </p:nvSpPr>
        <p:spPr>
          <a:xfrm>
            <a:off x="1072050" y="2335558"/>
            <a:ext cx="7782107" cy="2078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Our Submission Package (Team LTM ShieldOps):</a:t>
            </a:r>
          </a:p>
          <a:p>
            <a:endParaRPr lang="en-IN" sz="11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Final PPT — Solution overview, architecture &amp; approach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Demo Video (~10 min) — End-to-end live walkthrough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Code Repository — Python simulator, Azure Function, KQL queries, Logic App JSON, Adaptive Card template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Screenshots — Dashboard, Alerts, Sentinel, Incidents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README — Setup guide &amp; documentation</a:t>
            </a:r>
          </a:p>
        </p:txBody>
      </p:sp>
    </p:spTree>
    <p:extLst>
      <p:ext uri="{BB962C8B-B14F-4D97-AF65-F5344CB8AC3E}">
        <p14:creationId xmlns:p14="http://schemas.microsoft.com/office/powerpoint/2010/main" val="3360457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B2B88-AEA9-64D5-6143-7873FA039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1B427C-3F23-B38F-8061-42E3F57B0ED4}"/>
              </a:ext>
            </a:extLst>
          </p:cNvPr>
          <p:cNvSpPr txBox="1"/>
          <p:nvPr/>
        </p:nvSpPr>
        <p:spPr>
          <a:xfrm>
            <a:off x="549848" y="24680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800" b="1" dirty="0">
                <a:solidFill>
                  <a:srgbClr val="1A1A1A"/>
                </a:solidFill>
                <a:latin typeface="Aptos Display" panose="02110004020202020204"/>
              </a:rPr>
              <a:t>Technical Architecture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55011D-93D4-DCC7-7FBB-0250B319CC20}"/>
              </a:ext>
            </a:extLst>
          </p:cNvPr>
          <p:cNvSpPr/>
          <p:nvPr/>
        </p:nvSpPr>
        <p:spPr>
          <a:xfrm>
            <a:off x="9158514" y="0"/>
            <a:ext cx="3033486" cy="6858000"/>
          </a:xfrm>
          <a:prstGeom prst="rect">
            <a:avLst/>
          </a:prstGeom>
          <a:solidFill>
            <a:srgbClr val="F7DF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11685646-9E41-AC25-581B-AF9F3E2296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597618"/>
              </p:ext>
            </p:extLst>
          </p:nvPr>
        </p:nvGraphicFramePr>
        <p:xfrm>
          <a:off x="612923" y="1297313"/>
          <a:ext cx="8169157" cy="5120529"/>
        </p:xfrm>
        <a:graphic>
          <a:graphicData uri="http://schemas.openxmlformats.org/drawingml/2006/table">
            <a:tbl>
              <a:tblPr/>
              <a:tblGrid>
                <a:gridCol w="2025216">
                  <a:extLst>
                    <a:ext uri="{9D8B030D-6E8A-4147-A177-3AD203B41FA5}">
                      <a16:colId xmlns:a16="http://schemas.microsoft.com/office/drawing/2014/main" val="3837900683"/>
                    </a:ext>
                  </a:extLst>
                </a:gridCol>
                <a:gridCol w="6143941">
                  <a:extLst>
                    <a:ext uri="{9D8B030D-6E8A-4147-A177-3AD203B41FA5}">
                      <a16:colId xmlns:a16="http://schemas.microsoft.com/office/drawing/2014/main" val="2834952688"/>
                    </a:ext>
                  </a:extLst>
                </a:gridCol>
              </a:tblGrid>
              <a:tr h="19743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cs typeface="Segoe UI" panose="020B0502040204020203" pitchFamily="34" charset="0"/>
                      </a:endParaRP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Segoe UI" panose="020B0502040204020203" pitchFamily="34" charset="0"/>
                        </a:rPr>
                        <a:t>Description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367349"/>
                  </a:ext>
                </a:extLst>
              </a:tr>
              <a:tr h="1438908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Architecture Overview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5888" indent="0" algn="l" defTabSz="914400" rtl="0" eaLnBrk="1" fontAlgn="t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AuthGuard — Cloud-native identity threat detection engine, 6-Stage Automated Pipeline:</a:t>
                      </a:r>
                    </a:p>
                    <a:p>
                      <a:pPr marL="115888" indent="0" algn="l" defTabSz="914400" rtl="0" eaLnBrk="1" fontAlgn="t" latinLnBrk="0" hangingPunct="1">
                        <a:buNone/>
                      </a:pPr>
                      <a:endParaRPr lang="en-US" sz="1100" b="0" i="0" u="none" strike="noStrike" kern="1200">
                        <a:solidFill>
                          <a:srgbClr val="666666"/>
                        </a:solidFill>
                        <a:effectLst/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344488" indent="-228600" algn="l" defTabSz="914400" rtl="0" eaLnBrk="1" fontAlgn="t" latinLnBrk="0" hangingPunct="1">
                        <a:buFont typeface="+mj-lt"/>
                        <a:buAutoNum type="arabicPeriod"/>
                      </a:pPr>
                      <a:r>
                        <a:rPr lang="en-US" sz="1100" b="0" i="0" u="none" strike="noStrike" kern="120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SIMULATE → Python generates 7 attack types → Log Analytics </a:t>
                      </a:r>
                    </a:p>
                    <a:p>
                      <a:pPr marL="344488" indent="-228600" algn="l" defTabSz="914400" rtl="0" eaLnBrk="1" fontAlgn="t" latinLnBrk="0" hangingPunct="1">
                        <a:buFont typeface="+mj-lt"/>
                        <a:buAutoNum type="arabicPeriod"/>
                      </a:pPr>
                      <a:r>
                        <a:rPr lang="en-US" sz="1100" b="0" i="0" u="none" strike="noStrike" kern="120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DETECT   → 8 KQL rules identify threat patterns in real-time </a:t>
                      </a:r>
                    </a:p>
                    <a:p>
                      <a:pPr marL="344488" indent="-228600" algn="l" defTabSz="914400" rtl="0" eaLnBrk="1" fontAlgn="t" latinLnBrk="0" hangingPunct="1">
                        <a:buFont typeface="+mj-lt"/>
                        <a:buAutoNum type="arabicPeriod"/>
                      </a:pPr>
                      <a:r>
                        <a:rPr lang="en-US" sz="1100" b="0" i="0" u="none" strike="noStrike" kern="120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ENRICH   → Azure Function adds IP reputation + risk score (0-100)</a:t>
                      </a:r>
                    </a:p>
                    <a:p>
                      <a:pPr marL="344488" indent="-228600" algn="l" defTabSz="914400" rtl="0" eaLnBrk="1" fontAlgn="t" latinLnBrk="0" hangingPunct="1">
                        <a:buFont typeface="+mj-lt"/>
                        <a:buAutoNum type="arabicPeriod"/>
                      </a:pPr>
                      <a:r>
                        <a:rPr lang="en-US" sz="1100" b="0" i="0" u="none" strike="noStrike" kern="120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ORCHESTRATE → Logic App automates every 30 min</a:t>
                      </a:r>
                    </a:p>
                    <a:p>
                      <a:pPr marL="344488" indent="-228600" algn="l" defTabSz="914400" rtl="0" eaLnBrk="1" fontAlgn="t" latinLnBrk="0" hangingPunct="1">
                        <a:buFont typeface="+mj-lt"/>
                        <a:buAutoNum type="arabicPeriod"/>
                      </a:pPr>
                      <a:r>
                        <a:rPr lang="en-US" sz="1100" b="0" i="0" u="none" strike="noStrike" kern="120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ALERT    → Teams | Email | SMS | Sentinel | Azure Monitor</a:t>
                      </a:r>
                    </a:p>
                    <a:p>
                      <a:pPr marL="344488" indent="-228600" algn="l" defTabSz="914400" rtl="0" eaLnBrk="1" fontAlgn="t" latinLnBrk="0" hangingPunct="1">
                        <a:buFont typeface="+mj-lt"/>
                        <a:buAutoNum type="arabicPeriod"/>
                      </a:pPr>
                      <a:r>
                        <a:rPr lang="en-US" sz="1100" b="0" i="0" u="none" strike="noStrike" kern="120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VISUALIZE → Workbook Dashboard (15+ tiles) | Power BI | Incident Log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839416"/>
                  </a:ext>
                </a:extLst>
              </a:tr>
              <a:tr h="201573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endParaRPr lang="en-US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15888" indent="0" algn="l" defTabSz="914400" rtl="0" eaLnBrk="1" fontAlgn="t" latinLnBrk="0" hangingPunct="1">
                        <a:buNone/>
                      </a:pPr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643484"/>
                  </a:ext>
                </a:extLst>
              </a:tr>
              <a:tr h="1967503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Core Components</a:t>
                      </a:r>
                    </a:p>
                    <a:p>
                      <a:pPr marL="50800" indent="0" algn="l" defTabSz="914400" rtl="0" eaLnBrk="1" fontAlgn="t" latinLnBrk="0" hangingPunct="1">
                        <a:buNone/>
                      </a:pPr>
                      <a:endParaRPr lang="en-US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5080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(Microsoft Technology / Services Touched)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kern="1200" dirty="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Log Analytics Workspace — Central log store + KQL engine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kern="1200" dirty="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Azure Functions — Serverless threat enrichment (Python)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kern="1200" dirty="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Logic Apps — Automated orchestration pipeline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kern="1200" dirty="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Microsoft Sentinel — SIEM + 4 detection rules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kern="1200" dirty="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Defender XDR — Unified security portal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kern="1200" dirty="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Azure Monitor — Native alerting (Email + SMS)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kern="1200" dirty="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Azure Workbooks — Interactive security dashboard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kern="1200" dirty="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Table Storage — Incident audit trail (200+ records)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kern="1200" dirty="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MS Teams + Outlook + SMS — Multi-channel alerting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kern="1200" dirty="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Power BI — Executive reporting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kern="1200" dirty="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MITRE ATT&amp;CK — T1110, T1078 mapping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kern="1200" dirty="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ARM Templates — Infrastructure-as-Code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692221"/>
                  </a:ext>
                </a:extLst>
              </a:tr>
              <a:tr h="1266168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Security &amp; Compliance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kern="1200" dirty="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Entra ID + RBAC authentication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kern="1200" dirty="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TLS 1.2+ encryption (transit) + Azure Storage encryption 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kern="1200" dirty="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HMAC-SHA256 API authentication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kern="1200" dirty="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NIST Cybersecurity Framework aligned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kern="1200" dirty="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SOC 2 audit trail via incident logging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kern="1200" dirty="0">
                          <a:solidFill>
                            <a:srgbClr val="666666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Budget — Total cost: $0.41/$55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45129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14B9652C-85B1-D443-8220-5FD14E5BFA18}"/>
              </a:ext>
            </a:extLst>
          </p:cNvPr>
          <p:cNvSpPr/>
          <p:nvPr/>
        </p:nvSpPr>
        <p:spPr>
          <a:xfrm>
            <a:off x="9384274" y="435429"/>
            <a:ext cx="2586693" cy="62556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C962CC-5FED-CB31-94C7-133869AEDFE1}"/>
              </a:ext>
            </a:extLst>
          </p:cNvPr>
          <p:cNvSpPr txBox="1"/>
          <p:nvPr/>
        </p:nvSpPr>
        <p:spPr>
          <a:xfrm>
            <a:off x="9724239" y="625290"/>
            <a:ext cx="21295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AuthGuard Architecture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EB57064-F428-7ACD-0C1F-DBC5F2F3F0A5}"/>
              </a:ext>
            </a:extLst>
          </p:cNvPr>
          <p:cNvSpPr/>
          <p:nvPr/>
        </p:nvSpPr>
        <p:spPr>
          <a:xfrm>
            <a:off x="9740079" y="1204450"/>
            <a:ext cx="938463" cy="5534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Python</a:t>
            </a:r>
            <a:r>
              <a:rPr lang="en-IN" sz="1050" dirty="0"/>
              <a:t> Simulator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8CA436-7E2E-5405-180C-5DD7924F00C4}"/>
              </a:ext>
            </a:extLst>
          </p:cNvPr>
          <p:cNvSpPr txBox="1"/>
          <p:nvPr/>
        </p:nvSpPr>
        <p:spPr>
          <a:xfrm>
            <a:off x="10737206" y="1270621"/>
            <a:ext cx="145479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7 Attack Scenarios</a:t>
            </a:r>
          </a:p>
          <a:p>
            <a:r>
              <a:rPr lang="en-IN" sz="1100" dirty="0"/>
              <a:t>(Cloud Shell)</a:t>
            </a:r>
          </a:p>
          <a:p>
            <a:endParaRPr lang="en-IN" sz="11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805BEC4-6EFE-0AB6-1A2A-2E43EF659572}"/>
              </a:ext>
            </a:extLst>
          </p:cNvPr>
          <p:cNvSpPr/>
          <p:nvPr/>
        </p:nvSpPr>
        <p:spPr>
          <a:xfrm>
            <a:off x="9606409" y="2321765"/>
            <a:ext cx="1069745" cy="7342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Log Analytics  Workspace  - 8 KQL Rules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345F875-4CD9-FD2C-D30E-CEB012D33C00}"/>
              </a:ext>
            </a:extLst>
          </p:cNvPr>
          <p:cNvSpPr/>
          <p:nvPr/>
        </p:nvSpPr>
        <p:spPr>
          <a:xfrm>
            <a:off x="10833902" y="2321765"/>
            <a:ext cx="1069745" cy="7342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Azure </a:t>
            </a:r>
            <a:r>
              <a:rPr lang="en-US" sz="1100" dirty="0"/>
              <a:t>Function</a:t>
            </a:r>
            <a:r>
              <a:rPr lang="en-US" sz="1050" dirty="0"/>
              <a:t> (IP Reputation Risk Scoring)</a:t>
            </a:r>
            <a:endParaRPr lang="en-IN" sz="105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4F724DA-457D-E7C6-A4A8-B23543589C25}"/>
              </a:ext>
            </a:extLst>
          </p:cNvPr>
          <p:cNvSpPr/>
          <p:nvPr/>
        </p:nvSpPr>
        <p:spPr>
          <a:xfrm>
            <a:off x="9764158" y="3645567"/>
            <a:ext cx="1069745" cy="4806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Logic </a:t>
            </a:r>
            <a:r>
              <a:rPr lang="en-IN" sz="1100" dirty="0"/>
              <a:t>App</a:t>
            </a:r>
            <a:r>
              <a:rPr lang="en-IN" sz="1050" dirty="0"/>
              <a:t> 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1B2CDCA-1529-F6B4-07EA-DFBBB03613CB}"/>
              </a:ext>
            </a:extLst>
          </p:cNvPr>
          <p:cNvCxnSpPr>
            <a:stCxn id="16" idx="2"/>
          </p:cNvCxnSpPr>
          <p:nvPr/>
        </p:nvCxnSpPr>
        <p:spPr>
          <a:xfrm flipH="1">
            <a:off x="11368774" y="3056021"/>
            <a:ext cx="1" cy="8239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EF1CE56-E834-62C2-8813-D09BABF0CC19}"/>
              </a:ext>
            </a:extLst>
          </p:cNvPr>
          <p:cNvCxnSpPr/>
          <p:nvPr/>
        </p:nvCxnSpPr>
        <p:spPr>
          <a:xfrm flipH="1">
            <a:off x="10833902" y="3880019"/>
            <a:ext cx="5348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D3E56A32-CBC5-88F7-15E1-8507C84AB872}"/>
              </a:ext>
            </a:extLst>
          </p:cNvPr>
          <p:cNvSpPr/>
          <p:nvPr/>
        </p:nvSpPr>
        <p:spPr>
          <a:xfrm>
            <a:off x="9606409" y="4553351"/>
            <a:ext cx="2166283" cy="8239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MS Teams, </a:t>
            </a:r>
            <a:r>
              <a:rPr lang="en-IN" sz="1100" dirty="0"/>
              <a:t>Email</a:t>
            </a:r>
            <a:r>
              <a:rPr lang="en-IN" sz="1000" dirty="0"/>
              <a:t>,  SMS, Sentinel, Incident Log - Alerts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4B5290A-8073-9C65-F481-4CC31CAF9E2B}"/>
              </a:ext>
            </a:extLst>
          </p:cNvPr>
          <p:cNvCxnSpPr>
            <a:stCxn id="17" idx="2"/>
          </p:cNvCxnSpPr>
          <p:nvPr/>
        </p:nvCxnSpPr>
        <p:spPr>
          <a:xfrm flipH="1">
            <a:off x="10299030" y="4126228"/>
            <a:ext cx="1" cy="409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C0E3757-E93E-3E51-AA64-A621C5273D2C}"/>
              </a:ext>
            </a:extLst>
          </p:cNvPr>
          <p:cNvSpPr/>
          <p:nvPr/>
        </p:nvSpPr>
        <p:spPr>
          <a:xfrm>
            <a:off x="9606409" y="5653550"/>
            <a:ext cx="938463" cy="5534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 Workbook Dashboard </a:t>
            </a:r>
            <a:endParaRPr lang="en-IN" sz="1050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2DFD6D8-CC11-E00B-12C4-4F0EF8165A5A}"/>
              </a:ext>
            </a:extLst>
          </p:cNvPr>
          <p:cNvSpPr/>
          <p:nvPr/>
        </p:nvSpPr>
        <p:spPr>
          <a:xfrm>
            <a:off x="10826997" y="5653550"/>
            <a:ext cx="938463" cy="5534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Power BI </a:t>
            </a:r>
            <a:endParaRPr lang="en-IN" sz="105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DF0D5A4-53A4-DA5B-917D-E81A8D3C8FD1}"/>
              </a:ext>
            </a:extLst>
          </p:cNvPr>
          <p:cNvCxnSpPr>
            <a:cxnSpLocks/>
          </p:cNvCxnSpPr>
          <p:nvPr/>
        </p:nvCxnSpPr>
        <p:spPr>
          <a:xfrm>
            <a:off x="10209309" y="1774502"/>
            <a:ext cx="1" cy="547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944264D-291D-4FB6-0A7B-5A0459DB1220}"/>
              </a:ext>
            </a:extLst>
          </p:cNvPr>
          <p:cNvCxnSpPr>
            <a:cxnSpLocks/>
          </p:cNvCxnSpPr>
          <p:nvPr/>
        </p:nvCxnSpPr>
        <p:spPr>
          <a:xfrm flipH="1">
            <a:off x="10213504" y="3056021"/>
            <a:ext cx="1" cy="5895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187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F797C-AB8B-7893-6DC8-8A4576DA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324A474-D0AD-35CD-5DAE-C68B17455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109858"/>
              </p:ext>
            </p:extLst>
          </p:nvPr>
        </p:nvGraphicFramePr>
        <p:xfrm>
          <a:off x="328840" y="837587"/>
          <a:ext cx="11190513" cy="5717864"/>
        </p:xfrm>
        <a:graphic>
          <a:graphicData uri="http://schemas.openxmlformats.org/drawingml/2006/table">
            <a:tbl>
              <a:tblPr/>
              <a:tblGrid>
                <a:gridCol w="2597718">
                  <a:extLst>
                    <a:ext uri="{9D8B030D-6E8A-4147-A177-3AD203B41FA5}">
                      <a16:colId xmlns:a16="http://schemas.microsoft.com/office/drawing/2014/main" val="3837900683"/>
                    </a:ext>
                  </a:extLst>
                </a:gridCol>
                <a:gridCol w="8592795">
                  <a:extLst>
                    <a:ext uri="{9D8B030D-6E8A-4147-A177-3AD203B41FA5}">
                      <a16:colId xmlns:a16="http://schemas.microsoft.com/office/drawing/2014/main" val="2834952688"/>
                    </a:ext>
                  </a:extLst>
                </a:gridCol>
              </a:tblGrid>
              <a:tr h="2450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cs typeface="Segoe UI" panose="020B0502040204020203" pitchFamily="34" charset="0"/>
                      </a:endParaRP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Segoe UI" panose="020B0502040204020203" pitchFamily="34" charset="0"/>
                        </a:rPr>
                        <a:t>Description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367349"/>
                  </a:ext>
                </a:extLst>
              </a:tr>
              <a:tr h="617919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Relevance to Challenge (20 Points)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 7 attack scenarios simulated (vs. typical 2-3)                                                                              •  8 KQL detection rules with real-time pattern analysis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Complete pipeline: Detection → Enrichment → Alert → Log)                                                    •  Multi-channel SOC alerting (Teams, Email, SMS, Sentinel)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MITRE ATT&amp;CK mapped (T1110 Brute Force, T1078 Valid Accounts)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849156"/>
                  </a:ext>
                </a:extLst>
              </a:tr>
              <a:tr h="495103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Innovation &amp; Creativity (10 Points)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Impossible Travel Detection — Haversine geo-distance calculation  (e.g., Pune → Moscow in 5 min = 54,000 km/h → IMPOSSIBLE) 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Composite Risk Score (0-100) — 5 weighted signals                                                                •  IP Reputation Engine — TOR nodes, Botnet C2, Known Scanners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Proactive Threat Hunting via Sentinel hunting queries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810681"/>
                  </a:ext>
                </a:extLst>
              </a:tr>
              <a:tr h="617919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Technical Implementation (10 Points)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15+ Azure services integrated end-to-end                                                                                     • Serverless architecture (Functions + Logic Apps)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4 Sentinel analytics rules + 1 custom detection rule                                                                • ARM template for one-click repeatable deployment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Pipeline: Simulate → Detect → Enrich → Alert → Log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584888"/>
                  </a:ext>
                </a:extLst>
              </a:tr>
              <a:tr h="740735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User Experience (15 Points)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SOC Dashboard — Workbook with 15+ interactive tiles                                                         • MS Teams — Adaptive Cards with actions + recommendations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Email — HTML formatted, IST timestamps, color-coded                                                        • SMS — Instant mobile alerts for critical threats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Power BI — Executive reporting with drill-down                                                                           • Audit — Incident log (200+ auto-logged records)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473607"/>
                  </a:ext>
                </a:extLst>
              </a:tr>
              <a:tr h="740735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Impact &amp; Scalability (15 Points)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Detection in 5-30 min (vs. hours/days manually)                                                                        • Simultaneous alert channels 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Cost: $0.41 / $55 budget (0.75% used!)                                                                                           • Serverless = auto-scales with demand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ARM template = deploy to any Azure tenant                                                                                  • Connects to real Entra ID sign-in logs for production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035165"/>
                  </a:ext>
                </a:extLst>
              </a:tr>
              <a:tr h="372287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Presentation &amp; Pitch (10 Points)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Structure: Problem → Solution → Demo → Impact → Roadmap                                             • $4.88M avg breach cost (IBM 2024) — early detection prevents 80%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Working end-to-end solution — not a concept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658090"/>
                  </a:ext>
                </a:extLst>
              </a:tr>
              <a:tr h="617919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Adaptability &amp; Flexibility (10 Points)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Swap data source: Entra ID, AWS CloudTrail, GCP Identity                                                  • Cross-industry: Healthcare (HIPAA), Finance (PCI-DSS), Govt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Add attacks: MFA fatigue, session hijacking, token theft                                                       • Auto-remediation: Conditional Access IP blocking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Configurable thresholds — no code changes needed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823381"/>
                  </a:ext>
                </a:extLst>
              </a:tr>
              <a:tr h="617919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Overall Impression (10 Points)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Enterprise-grade identity threat detection engine                                                                      • 15+ Azure services in one cohesive pipeline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7 attack types | 5 alert channels | 15+ dashboard tiles                                                            • Sentinel SIEM + MITRE ATT&amp;CK integration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Total cost: $0.41 — exceptional cost efficiency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535938"/>
                  </a:ext>
                </a:extLst>
              </a:tr>
              <a:tr h="126655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endParaRPr lang="en-US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00706"/>
                  </a:ext>
                </a:extLst>
              </a:tr>
              <a:tr h="495103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Why does your POC/Tool worthy of GTM development ?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80% of breaches = compromised credentials (Verizon DBIR 2024)                                   • Identity threat market growing 14.2% CAGR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Path: Connect real Entra ID → Add auto-remediation →   ML-based adaptive thresholds → Azure Marketplace packaging</a:t>
                      </a:r>
                    </a:p>
                    <a:p>
                      <a:pPr marL="287338" indent="-17145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GTM timeline: 3-6 months from POC to MVP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1984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BA238B4-0ECC-1979-27D8-079F3FFA824F}"/>
              </a:ext>
            </a:extLst>
          </p:cNvPr>
          <p:cNvSpPr txBox="1"/>
          <p:nvPr/>
        </p:nvSpPr>
        <p:spPr>
          <a:xfrm>
            <a:off x="595439" y="1905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800" b="1" dirty="0">
                <a:solidFill>
                  <a:srgbClr val="1A1A1A"/>
                </a:solidFill>
                <a:latin typeface="Aptos Display" panose="02110004020202020204"/>
              </a:rPr>
              <a:t>Solution Approach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0215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28335-30D9-0938-9630-76FB93F83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F833C3-0304-C489-0A10-120C527268CC}"/>
              </a:ext>
            </a:extLst>
          </p:cNvPr>
          <p:cNvSpPr/>
          <p:nvPr/>
        </p:nvSpPr>
        <p:spPr>
          <a:xfrm>
            <a:off x="0" y="465754"/>
            <a:ext cx="12192000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731104-538B-41BE-7EED-87601E3678C5}"/>
              </a:ext>
            </a:extLst>
          </p:cNvPr>
          <p:cNvSpPr txBox="1"/>
          <p:nvPr/>
        </p:nvSpPr>
        <p:spPr>
          <a:xfrm>
            <a:off x="530603" y="46575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800" b="1" dirty="0">
                <a:solidFill>
                  <a:srgbClr val="1A1A1A"/>
                </a:solidFill>
                <a:latin typeface="Aptos Display" panose="02110004020202020204"/>
              </a:rPr>
              <a:t>Demo Video &amp; Pitch Best Practices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3" name="Shape 89">
            <a:extLst>
              <a:ext uri="{FF2B5EF4-FFF2-40B4-BE49-F238E27FC236}">
                <a16:creationId xmlns:a16="http://schemas.microsoft.com/office/drawing/2014/main" id="{09AF1F6C-C1BA-3BD9-2BA0-9AE1B86CDA5E}"/>
              </a:ext>
            </a:extLst>
          </p:cNvPr>
          <p:cNvSpPr/>
          <p:nvPr/>
        </p:nvSpPr>
        <p:spPr>
          <a:xfrm flipH="1">
            <a:off x="711199" y="1873255"/>
            <a:ext cx="77531" cy="3046988"/>
          </a:xfrm>
          <a:prstGeom prst="rect">
            <a:avLst/>
          </a:prstGeom>
          <a:solidFill>
            <a:srgbClr val="FD5E49"/>
          </a:solidFill>
          <a:ln w="12700">
            <a:solidFill>
              <a:srgbClr val="A42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21C835-5767-5D8C-65E3-90498278D56F}"/>
              </a:ext>
            </a:extLst>
          </p:cNvPr>
          <p:cNvSpPr txBox="1"/>
          <p:nvPr/>
        </p:nvSpPr>
        <p:spPr>
          <a:xfrm>
            <a:off x="1139250" y="2028616"/>
            <a:ext cx="969385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Our Demo Video Structure (Team LTM ShieldOps):</a:t>
            </a:r>
          </a:p>
          <a:p>
            <a:endParaRPr lang="en-IN" sz="1100" dirty="0"/>
          </a:p>
          <a:p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Introduction &amp; Problem Statement  "Organizations face millions of failed logins daily...“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Live Attack Simulation  Run 7 attack scenarios in Azure Cloud Shell  Show data flowing into Log Analytics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Detection &amp; Dashboard  KQL detection engine identifies threats  Walkthrough 15+ tile security dashboard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Multi-Channel Alerting (LIVE!)  Teams Adaptive Card → SOC channel  HTML Email Alert → Outlook (IST time)  SMS Alert → Mobile phone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 Enrichment &amp; SIEM  Azure Function → IP reputation + risk scoring  Microsoft Sentinel → Incidents + MITRE ATT&amp;CK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 Business Impact  Cost: $0.41 / $55 (0.75% budget)  5 alert channels | 7 attack types | 15+ tiles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 Future Roadmap &amp; GTM  Real Entra ID → Auto-remediation → ML thresholds  → Azure Marketplace (3-6 month timeline)</a:t>
            </a:r>
          </a:p>
        </p:txBody>
      </p:sp>
    </p:spTree>
    <p:extLst>
      <p:ext uri="{BB962C8B-B14F-4D97-AF65-F5344CB8AC3E}">
        <p14:creationId xmlns:p14="http://schemas.microsoft.com/office/powerpoint/2010/main" val="3745689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28335-30D9-0938-9630-76FB93F83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731104-538B-41BE-7EED-87601E3678C5}"/>
              </a:ext>
            </a:extLst>
          </p:cNvPr>
          <p:cNvSpPr txBox="1"/>
          <p:nvPr/>
        </p:nvSpPr>
        <p:spPr>
          <a:xfrm>
            <a:off x="352802" y="-11844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800" b="1" dirty="0">
                <a:solidFill>
                  <a:srgbClr val="1A1A1A"/>
                </a:solidFill>
                <a:latin typeface="Aptos Display" panose="02110004020202020204"/>
              </a:rPr>
              <a:t>References/Screenshots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D4AC803-DF5B-73A6-5647-0CD9238B69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2" y="404773"/>
            <a:ext cx="4071670" cy="210982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F9BF7DA-35CA-8A70-E024-AD2298CEAF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174" y="270163"/>
            <a:ext cx="3945864" cy="210982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CBF72C8-5448-8252-306C-1BBF7BEAF3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7240" y="49137"/>
            <a:ext cx="3695860" cy="220385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1B75B7A-7033-4BA4-4A43-55AF58E9D4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771" b="-1"/>
          <a:stretch>
            <a:fillRect/>
          </a:stretch>
        </p:blipFill>
        <p:spPr>
          <a:xfrm>
            <a:off x="35302" y="2647950"/>
            <a:ext cx="3086100" cy="156209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9CE1A19-FFC4-BA3C-9489-8ADE55A359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600" y="2514601"/>
            <a:ext cx="4023100" cy="226059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6FCCFC4-31AD-B82D-8250-D3EDE20F08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2402113"/>
            <a:ext cx="4381500" cy="246198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D5CA49D-FA61-FC11-DFF1-E4F38C4378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43398"/>
            <a:ext cx="3441700" cy="240897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B880D2A2-74B5-72D2-0E2A-309BC3521BB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0220" y="4864099"/>
            <a:ext cx="3695860" cy="194605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4C0E712-D758-9EDD-91A0-45CD88FB197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80" y="5256998"/>
            <a:ext cx="4610020" cy="149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89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TM_March 2026">
      <a:dk1>
        <a:srgbClr val="1A1A1A"/>
      </a:dk1>
      <a:lt1>
        <a:srgbClr val="FFFFFF"/>
      </a:lt1>
      <a:dk2>
        <a:srgbClr val="4C4E4F"/>
      </a:dk2>
      <a:lt2>
        <a:srgbClr val="E3E3E3"/>
      </a:lt2>
      <a:accent1>
        <a:srgbClr val="FF5E4F"/>
      </a:accent1>
      <a:accent2>
        <a:srgbClr val="559BB5"/>
      </a:accent2>
      <a:accent3>
        <a:srgbClr val="482475"/>
      </a:accent3>
      <a:accent4>
        <a:srgbClr val="F8FFC8"/>
      </a:accent4>
      <a:accent5>
        <a:srgbClr val="C1C1C1"/>
      </a:accent5>
      <a:accent6>
        <a:srgbClr val="34754D"/>
      </a:accent6>
      <a:hlink>
        <a:srgbClr val="004B86"/>
      </a:hlink>
      <a:folHlink>
        <a:srgbClr val="9900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activity xmlns="6ef4bce3-1b5c-4ad9-bbf6-ec9f652c17a9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5B18212111DD4E972B02016F5D797C" ma:contentTypeVersion="21" ma:contentTypeDescription="Create a new document." ma:contentTypeScope="" ma:versionID="3afbd90cbdc0939804adb136d66b0736">
  <xsd:schema xmlns:xsd="http://www.w3.org/2001/XMLSchema" xmlns:xs="http://www.w3.org/2001/XMLSchema" xmlns:p="http://schemas.microsoft.com/office/2006/metadata/properties" xmlns:ns1="http://schemas.microsoft.com/sharepoint/v3" xmlns:ns3="6ef4bce3-1b5c-4ad9-bbf6-ec9f652c17a9" xmlns:ns4="1e7b39a1-4df1-480c-b954-7da1a40710c4" targetNamespace="http://schemas.microsoft.com/office/2006/metadata/properties" ma:root="true" ma:fieldsID="12d6ba3c21a03791a73dccffd5415542" ns1:_="" ns3:_="" ns4:_="">
    <xsd:import namespace="http://schemas.microsoft.com/sharepoint/v3"/>
    <xsd:import namespace="6ef4bce3-1b5c-4ad9-bbf6-ec9f652c17a9"/>
    <xsd:import namespace="1e7b39a1-4df1-480c-b954-7da1a40710c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1:_ip_UnifiedCompliancePolicyProperties" minOccurs="0"/>
                <xsd:element ref="ns1:_ip_UnifiedCompliancePolicyUIAction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f4bce3-1b5c-4ad9-bbf6-ec9f652c17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7b39a1-4df1-480c-b954-7da1a40710c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7C65AD-D66C-409B-A970-B33FB8F988FF}">
  <ds:schemaRefs>
    <ds:schemaRef ds:uri="http://schemas.microsoft.com/sharepoint/v3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infopath/2007/PartnerControls"/>
    <ds:schemaRef ds:uri="1e7b39a1-4df1-480c-b954-7da1a40710c4"/>
    <ds:schemaRef ds:uri="6ef4bce3-1b5c-4ad9-bbf6-ec9f652c17a9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54E36E1-9952-432C-A7F5-84B268E890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EBD496-94DE-4C45-B417-05328C9967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ef4bce3-1b5c-4ad9-bbf6-ec9f652c17a9"/>
    <ds:schemaRef ds:uri="1e7b39a1-4df1-480c-b954-7da1a40710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443</TotalTime>
  <Words>1185</Words>
  <Application>Microsoft Office PowerPoint</Application>
  <PresentationFormat>Widescreen</PresentationFormat>
  <Paragraphs>126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ES Klarheit Grotesk</vt:lpstr>
      <vt:lpstr>ES Klarheit Grotesk Lt</vt:lpstr>
      <vt:lpstr>Segoe Sans Display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Liz Torres-Ramirez</dc:creator>
  <cp:lastModifiedBy>Dheeraj Raju Kachi</cp:lastModifiedBy>
  <cp:revision>9</cp:revision>
  <dcterms:created xsi:type="dcterms:W3CDTF">2026-05-05T19:09:33Z</dcterms:created>
  <dcterms:modified xsi:type="dcterms:W3CDTF">2026-06-16T06:08:09Z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0x010100FC5B18212111DD4E972B02016F5D797C</vt:lpwstr>
  </property>
</Properties>
</file>